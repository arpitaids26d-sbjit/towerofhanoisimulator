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BJ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ln w="15875">
            <a:solidFill>
              <a:schemeClr val="accent6"/>
            </a:solidFill>
            <a:prstDash val="solid"/>
          </a:ln>
        </p:spPr>
      </p:sp>
      <p:pic>
        <p:nvPicPr>
          <p:cNvPr id="3" name="Institute header" descr="/mnt/user-data/uploads/New_CSE-DS_Hea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6032"/>
            <a:ext cx="8595360" cy="15139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6446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S. B. Jain Institute of Technology Management and Research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BJAIN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ln w="15875">
            <a:solidFill>
              <a:schemeClr val="accent6"/>
            </a:solidFill>
            <a:prstDash val="solid"/>
          </a:ln>
        </p:spPr>
      </p:sp>
      <p:pic>
        <p:nvPicPr>
          <p:cNvPr id="3" name="Institute header" descr="/mnt/user-data/uploads/New_CSE-DS_Hea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6032"/>
            <a:ext cx="8595360" cy="15139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64465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S. B. Jain Institute of Technology Management and Research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07167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Experiential Learning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18647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Project Assessment-III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8440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58727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“Tower of Hanoi Visual Simulator”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6164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under the course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35967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Python Programming Lab (N-PCCCD304P)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3888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Under the Guidance of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13207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Ms. Ashwini Yerlekar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7040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Presented By: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44727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Arpita Ikhankar – CD26D004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1048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Session: 2026-27 (ODD)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1. Problem Statement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640080" y="2638687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Tower of Hanoi puzzle has three rods and n disks of different sizes.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disks start on the Source rod, largest at the bottom.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Goal: move the whole stack to the Destination rod using the Auxiliary rod.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Rules: move one disk at a time, only the top disk, never a larger disk on a smaller one.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Understanding the steps by reading rules is difficult, so a visual tool helps.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project shows every move of the solution visually, step by step, using Python.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2. Objective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640080" y="2638687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Solve the Tower of Hanoi puzzle using recursion.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Take the number of disks (1 to 8) from the user with input validation.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Display three rods and coloured disks of different sizes using Tkinter.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Animate each disk movement one by one with a small delay.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Calculate the minimum moves using the formula 2^n - 1 and show the move counter.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Provide Start, Pause/Resume, Reset buttons and a speed slider.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 the project using Git and GitHub.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3. Flowchart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Flow 1"/>
          <p:cNvSpPr/>
          <p:nvPr/>
        </p:nvSpPr>
        <p:spPr>
          <a:xfrm>
            <a:off x="914400" y="2592967"/>
            <a:ext cx="3474720" cy="310896"/>
          </a:xfrm>
          <a:prstGeom prst="roundRect">
            <a:avLst>
              <a:gd name="adj" fmla="val 58824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START</a:t>
            </a:r>
            <a:endParaRPr lang="en-US" sz="1300" dirty="0"/>
          </a:p>
        </p:txBody>
      </p:sp>
      <p:sp>
        <p:nvSpPr>
          <p:cNvPr id="5" name="Arrow 1"/>
          <p:cNvSpPr/>
          <p:nvPr/>
        </p:nvSpPr>
        <p:spPr>
          <a:xfrm>
            <a:off x="2651760" y="2903863"/>
            <a:ext cx="0" cy="10972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Flow 2"/>
          <p:cNvSpPr/>
          <p:nvPr/>
        </p:nvSpPr>
        <p:spPr>
          <a:xfrm>
            <a:off x="914400" y="3013591"/>
            <a:ext cx="3474720" cy="310896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Enter number of disks (n)</a:t>
            </a:r>
            <a:endParaRPr lang="en-US" sz="1300" dirty="0"/>
          </a:p>
        </p:txBody>
      </p:sp>
      <p:sp>
        <p:nvSpPr>
          <p:cNvPr id="7" name="Arrow 2"/>
          <p:cNvSpPr/>
          <p:nvPr/>
        </p:nvSpPr>
        <p:spPr>
          <a:xfrm>
            <a:off x="2651760" y="3324487"/>
            <a:ext cx="0" cy="10972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Flow 3"/>
          <p:cNvSpPr/>
          <p:nvPr/>
        </p:nvSpPr>
        <p:spPr>
          <a:xfrm>
            <a:off x="914400" y="3434215"/>
            <a:ext cx="3474720" cy="310896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Check: 1 &lt;= n &lt;= 8 ?</a:t>
            </a:r>
            <a:endParaRPr lang="en-US" sz="1300" dirty="0"/>
          </a:p>
        </p:txBody>
      </p:sp>
      <p:sp>
        <p:nvSpPr>
          <p:cNvPr id="9" name="Arrow 3"/>
          <p:cNvSpPr/>
          <p:nvPr/>
        </p:nvSpPr>
        <p:spPr>
          <a:xfrm>
            <a:off x="2651760" y="3745111"/>
            <a:ext cx="0" cy="10972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Flow 4"/>
          <p:cNvSpPr/>
          <p:nvPr/>
        </p:nvSpPr>
        <p:spPr>
          <a:xfrm>
            <a:off x="914400" y="3854839"/>
            <a:ext cx="3474720" cy="310896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Generate moves using recursion</a:t>
            </a:r>
            <a:endParaRPr lang="en-US" sz="1300" dirty="0"/>
          </a:p>
        </p:txBody>
      </p:sp>
      <p:sp>
        <p:nvSpPr>
          <p:cNvPr id="11" name="Arrow 4"/>
          <p:cNvSpPr/>
          <p:nvPr/>
        </p:nvSpPr>
        <p:spPr>
          <a:xfrm>
            <a:off x="2651760" y="4165735"/>
            <a:ext cx="0" cy="10972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Flow 5"/>
          <p:cNvSpPr/>
          <p:nvPr/>
        </p:nvSpPr>
        <p:spPr>
          <a:xfrm>
            <a:off x="914400" y="4275463"/>
            <a:ext cx="3474720" cy="310896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Show total moves = 2^n - 1</a:t>
            </a:r>
            <a:endParaRPr lang="en-US" sz="1300" dirty="0"/>
          </a:p>
        </p:txBody>
      </p:sp>
      <p:sp>
        <p:nvSpPr>
          <p:cNvPr id="13" name="Arrow 5"/>
          <p:cNvSpPr/>
          <p:nvPr/>
        </p:nvSpPr>
        <p:spPr>
          <a:xfrm>
            <a:off x="2651760" y="4586359"/>
            <a:ext cx="0" cy="10972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Flow 6"/>
          <p:cNvSpPr/>
          <p:nvPr/>
        </p:nvSpPr>
        <p:spPr>
          <a:xfrm>
            <a:off x="914400" y="4696087"/>
            <a:ext cx="3474720" cy="310896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Animate each move, update counter</a:t>
            </a:r>
            <a:endParaRPr lang="en-US" sz="1300" dirty="0"/>
          </a:p>
        </p:txBody>
      </p:sp>
      <p:sp>
        <p:nvSpPr>
          <p:cNvPr id="15" name="Arrow 6"/>
          <p:cNvSpPr/>
          <p:nvPr/>
        </p:nvSpPr>
        <p:spPr>
          <a:xfrm>
            <a:off x="2651760" y="5006983"/>
            <a:ext cx="0" cy="10972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Flow 7"/>
          <p:cNvSpPr/>
          <p:nvPr/>
        </p:nvSpPr>
        <p:spPr>
          <a:xfrm>
            <a:off x="914400" y="5116711"/>
            <a:ext cx="3474720" cy="310896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Display "Puzzle Solved!"</a:t>
            </a:r>
            <a:endParaRPr lang="en-US" sz="1300" dirty="0"/>
          </a:p>
        </p:txBody>
      </p:sp>
      <p:sp>
        <p:nvSpPr>
          <p:cNvPr id="17" name="Arrow 7"/>
          <p:cNvSpPr/>
          <p:nvPr/>
        </p:nvSpPr>
        <p:spPr>
          <a:xfrm>
            <a:off x="2651760" y="5427607"/>
            <a:ext cx="0" cy="10972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Flow 8"/>
          <p:cNvSpPr/>
          <p:nvPr/>
        </p:nvSpPr>
        <p:spPr>
          <a:xfrm>
            <a:off x="914400" y="5537335"/>
            <a:ext cx="3474720" cy="310896"/>
          </a:xfrm>
          <a:prstGeom prst="roundRect">
            <a:avLst>
              <a:gd name="adj" fmla="val 58824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STOP</a:t>
            </a:r>
            <a:endParaRPr lang="en-US" sz="1300" dirty="0"/>
          </a:p>
        </p:txBody>
      </p:sp>
      <p:sp>
        <p:nvSpPr>
          <p:cNvPr id="19" name="Recursion card"/>
          <p:cNvSpPr/>
          <p:nvPr/>
        </p:nvSpPr>
        <p:spPr>
          <a:xfrm>
            <a:off x="4846320" y="2592967"/>
            <a:ext cx="3749040" cy="3255264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Recursion text"/>
          <p:cNvSpPr txBox="1"/>
          <p:nvPr/>
        </p:nvSpPr>
        <p:spPr>
          <a:xfrm>
            <a:off x="5029200" y="2730127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Recursive idea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Move n-1 disks: Source to Auxiliary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Move the largest disk: Source to Destination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Move n-1 disks: Auxiliary to Destination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Base case: n = 0, stop.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Moves: 3 disks = 7, 4 disks = 15.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4. Understanding of Python Logic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1. hanoi_logic.py card"/>
          <p:cNvSpPr/>
          <p:nvPr/>
        </p:nvSpPr>
        <p:spPr>
          <a:xfrm>
            <a:off x="548640" y="2638687"/>
            <a:ext cx="3931920" cy="2514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684407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hanoi_logic.py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95887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minimum_moves(n) returns 2**n - 1.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solve_hanoi() is the recursive function.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Base case n == 0 stops the recursion.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get_all_moves(n) returns the list of (from, to) moves.</a:t>
            </a:r>
            <a:endParaRPr lang="en-US" sz="1300" dirty="0"/>
          </a:p>
        </p:txBody>
      </p:sp>
      <p:sp>
        <p:nvSpPr>
          <p:cNvPr id="7" name="2. main.py (HanoiApp class) card"/>
          <p:cNvSpPr/>
          <p:nvPr/>
        </p:nvSpPr>
        <p:spPr>
          <a:xfrm>
            <a:off x="4663440" y="2638687"/>
            <a:ext cx="3931920" cy="2514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684407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main.py (HanoiApp class)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3095887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Rods stored as list of lists [[], [], []].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draw() redraws rods and disks on Canvas.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next_move() uses pop() and append().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root.after() adds delay so window never freezes.</a:t>
            </a:r>
            <a:endParaRPr lang="en-US" sz="1300" dirty="0"/>
          </a:p>
        </p:txBody>
      </p:sp>
      <p:sp>
        <p:nvSpPr>
          <p:cNvPr id="10" name="Core logic bar"/>
          <p:cNvSpPr/>
          <p:nvPr/>
        </p:nvSpPr>
        <p:spPr>
          <a:xfrm>
            <a:off x="548640" y="5381887"/>
            <a:ext cx="8046720" cy="822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ore logic text"/>
          <p:cNvSpPr txBox="1"/>
          <p:nvPr/>
        </p:nvSpPr>
        <p:spPr>
          <a:xfrm>
            <a:off x="548640" y="5381887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Core Logic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Number of disks → Recursion → List of moves → Animate on Canvas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5. Graphical Representation and Working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547247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3 disks (7 moves)</a:t>
            </a:r>
            <a:endParaRPr lang="en-US" sz="1500" dirty="0"/>
          </a:p>
        </p:txBody>
      </p:sp>
      <p:sp>
        <p:nvSpPr>
          <p:cNvPr id="5" name="Ground"/>
          <p:cNvSpPr/>
          <p:nvPr/>
        </p:nvSpPr>
        <p:spPr>
          <a:xfrm>
            <a:off x="548640" y="4558927"/>
            <a:ext cx="384048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Rod Source"/>
          <p:cNvSpPr/>
          <p:nvPr/>
        </p:nvSpPr>
        <p:spPr>
          <a:xfrm>
            <a:off x="1161288" y="3644527"/>
            <a:ext cx="54864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66865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Source</a:t>
            </a:r>
            <a:endParaRPr lang="en-US" sz="1000" dirty="0"/>
          </a:p>
        </p:txBody>
      </p:sp>
      <p:sp>
        <p:nvSpPr>
          <p:cNvPr id="8" name="Rod Auxiliary"/>
          <p:cNvSpPr/>
          <p:nvPr/>
        </p:nvSpPr>
        <p:spPr>
          <a:xfrm>
            <a:off x="2441448" y="3644527"/>
            <a:ext cx="54864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466865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Auxiliary</a:t>
            </a:r>
            <a:endParaRPr lang="en-US" sz="1000" dirty="0"/>
          </a:p>
        </p:txBody>
      </p:sp>
      <p:sp>
        <p:nvSpPr>
          <p:cNvPr id="10" name="Rod Destination"/>
          <p:cNvSpPr/>
          <p:nvPr/>
        </p:nvSpPr>
        <p:spPr>
          <a:xfrm>
            <a:off x="3721608" y="3644527"/>
            <a:ext cx="54864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466865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Destination</a:t>
            </a:r>
            <a:endParaRPr lang="en-US" sz="1000" dirty="0"/>
          </a:p>
        </p:txBody>
      </p:sp>
      <p:sp>
        <p:nvSpPr>
          <p:cNvPr id="12" name="Disk 3"/>
          <p:cNvSpPr/>
          <p:nvPr/>
        </p:nvSpPr>
        <p:spPr>
          <a:xfrm>
            <a:off x="726948" y="4357759"/>
            <a:ext cx="923544" cy="182880"/>
          </a:xfrm>
          <a:prstGeom prst="rect">
            <a:avLst/>
          </a:prstGeom>
          <a:solidFill>
            <a:srgbClr val="F1C40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Disk 2"/>
          <p:cNvSpPr/>
          <p:nvPr/>
        </p:nvSpPr>
        <p:spPr>
          <a:xfrm>
            <a:off x="827532" y="4156591"/>
            <a:ext cx="722376" cy="182880"/>
          </a:xfrm>
          <a:prstGeom prst="rect">
            <a:avLst/>
          </a:prstGeom>
          <a:solidFill>
            <a:srgbClr val="E67E2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Disk 1"/>
          <p:cNvSpPr/>
          <p:nvPr/>
        </p:nvSpPr>
        <p:spPr>
          <a:xfrm>
            <a:off x="928116" y="3955423"/>
            <a:ext cx="521208" cy="182880"/>
          </a:xfrm>
          <a:prstGeom prst="rect">
            <a:avLst/>
          </a:prstGeom>
          <a:solidFill>
            <a:srgbClr val="E74C3C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18732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Start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4434840" y="3781687"/>
            <a:ext cx="2743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Ground"/>
          <p:cNvSpPr/>
          <p:nvPr/>
        </p:nvSpPr>
        <p:spPr>
          <a:xfrm>
            <a:off x="4754880" y="4558927"/>
            <a:ext cx="384048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Rod Source"/>
          <p:cNvSpPr/>
          <p:nvPr/>
        </p:nvSpPr>
        <p:spPr>
          <a:xfrm>
            <a:off x="5367528" y="3644527"/>
            <a:ext cx="54864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466865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Source</a:t>
            </a:r>
            <a:endParaRPr lang="en-US" sz="1000" dirty="0"/>
          </a:p>
        </p:txBody>
      </p:sp>
      <p:sp>
        <p:nvSpPr>
          <p:cNvPr id="20" name="Rod Auxiliary"/>
          <p:cNvSpPr/>
          <p:nvPr/>
        </p:nvSpPr>
        <p:spPr>
          <a:xfrm>
            <a:off x="6647688" y="3644527"/>
            <a:ext cx="54864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466865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Auxiliary</a:t>
            </a:r>
            <a:endParaRPr lang="en-US" sz="1000" dirty="0"/>
          </a:p>
        </p:txBody>
      </p:sp>
      <p:sp>
        <p:nvSpPr>
          <p:cNvPr id="22" name="Rod Destination"/>
          <p:cNvSpPr/>
          <p:nvPr/>
        </p:nvSpPr>
        <p:spPr>
          <a:xfrm>
            <a:off x="7927848" y="3644527"/>
            <a:ext cx="54864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466865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Destination</a:t>
            </a:r>
            <a:endParaRPr lang="en-US" sz="1000" dirty="0"/>
          </a:p>
        </p:txBody>
      </p:sp>
      <p:sp>
        <p:nvSpPr>
          <p:cNvPr id="24" name="Disk 3"/>
          <p:cNvSpPr/>
          <p:nvPr/>
        </p:nvSpPr>
        <p:spPr>
          <a:xfrm>
            <a:off x="7493508" y="4357759"/>
            <a:ext cx="923544" cy="182880"/>
          </a:xfrm>
          <a:prstGeom prst="rect">
            <a:avLst/>
          </a:prstGeom>
          <a:solidFill>
            <a:srgbClr val="F1C40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Disk 2"/>
          <p:cNvSpPr/>
          <p:nvPr/>
        </p:nvSpPr>
        <p:spPr>
          <a:xfrm>
            <a:off x="7594092" y="4156591"/>
            <a:ext cx="722376" cy="182880"/>
          </a:xfrm>
          <a:prstGeom prst="rect">
            <a:avLst/>
          </a:prstGeom>
          <a:solidFill>
            <a:srgbClr val="E67E2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Disk 1"/>
          <p:cNvSpPr/>
          <p:nvPr/>
        </p:nvSpPr>
        <p:spPr>
          <a:xfrm>
            <a:off x="7694676" y="3955423"/>
            <a:ext cx="521208" cy="182880"/>
          </a:xfrm>
          <a:prstGeom prst="rect">
            <a:avLst/>
          </a:prstGeom>
          <a:solidFill>
            <a:srgbClr val="E74C3C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18732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After 7 moves</a:t>
            </a:r>
            <a:endParaRPr lang="en-US" sz="1300" dirty="0"/>
          </a:p>
        </p:txBody>
      </p:sp>
      <p:sp>
        <p:nvSpPr>
          <p:cNvPr id="28" name="Moves list"/>
          <p:cNvSpPr txBox="1"/>
          <p:nvPr/>
        </p:nvSpPr>
        <p:spPr>
          <a:xfrm>
            <a:off x="548640" y="5199007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Moves: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1) D1 S→D   2) D2 S→A   3) D1 D→A   4) D3 S→D   5) D1 A→S   6) D2 A→D   7) D1 S→D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(D = disk, S = Source, A = Auxiliary, D at end = Destination)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6. Utility Implementation &amp; Features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640080" y="2638687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Number of disks (1 to 8) taken from user with try-except validation.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Recursive function solve_hanoi() generates all moves.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Three rods and coloured disks drawn on a Tkinter Canvas.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move animated step by step using root.after() delay.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Move counter shows "Move i / total" with total = 2^n - 1.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Start, Pause/Resume and Reset buttons, plus a speed slider.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Completion message "Puzzle Solved!" when all moves are done.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7. Testing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graphicFrame>
        <p:nvGraphicFramePr>
          <p:cNvPr id="9" name="Te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638687"/>
          <a:ext cx="7498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32918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 (disks)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move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moves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moves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255 moves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or 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Error: enter 1 to 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abc (text)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Error message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701927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Pause/Resume, Reset and the speed slider were also tested during animation.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8. GitHub Repository Quality &amp; Maintenance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640080" y="2592967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Created public repository: TowerofHanoiSimulator.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Uploaded main.py, hanoi_logic.py, README.md and .gitignore.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 README.md (overview, features, requirements, how to run) and .gitignore.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Repository Link: github.com/arpitaids26d-sbjit/TowerofHanoiSimulator</a:t>
            </a:r>
            <a:endParaRPr lang="en-US" sz="1400" dirty="0"/>
          </a:p>
        </p:txBody>
      </p:sp>
      <p:pic>
        <p:nvPicPr>
          <p:cNvPr id="5" name="GitHub screenshot" descr="GitHub repository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010287"/>
            <a:ext cx="3657600" cy="19453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9. Final Output: Start and Animation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pic>
        <p:nvPicPr>
          <p:cNvPr id="4" name="Screenshot 1" descr="Initial screen (3 disk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38687"/>
            <a:ext cx="3566160" cy="2515136"/>
          </a:xfrm>
          <a:prstGeom prst="rect">
            <a:avLst/>
          </a:prstGeom>
        </p:spPr>
      </p:pic>
      <p:pic>
        <p:nvPicPr>
          <p:cNvPr id="5" name="Screenshot 2" descr="Animation in progress (move 6 of 7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38687"/>
            <a:ext cx="3566160" cy="263563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524472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Initial screen (3 disks)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846320" y="524472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Animation in progress (move 6 of 7)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10. Final Output: Puzzle Solved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pic>
        <p:nvPicPr>
          <p:cNvPr id="4" name="Screenshot 1" descr="Solved: 3 disks, 7 mo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38687"/>
            <a:ext cx="3566160" cy="2633393"/>
          </a:xfrm>
          <a:prstGeom prst="rect">
            <a:avLst/>
          </a:prstGeom>
        </p:spPr>
      </p:pic>
      <p:pic>
        <p:nvPicPr>
          <p:cNvPr id="5" name="Screenshot 2" descr="Solved: 4 disks, 15 mov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38687"/>
            <a:ext cx="3566160" cy="25574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524472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Solved: 3 disks, 7 moves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846320" y="524472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Solved: 4 disks, 15 moves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9735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11. Conclusion &amp; Future Scope</a:t>
            </a:r>
            <a:endParaRPr lang="en-US" sz="2400" dirty="0"/>
          </a:p>
        </p:txBody>
      </p:sp>
      <p:sp>
        <p:nvSpPr>
          <p:cNvPr id="3" name="Title rule"/>
          <p:cNvSpPr/>
          <p:nvPr/>
        </p:nvSpPr>
        <p:spPr>
          <a:xfrm>
            <a:off x="548640" y="2428375"/>
            <a:ext cx="80467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640080" y="2638687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simulator solves Tower of Hanoi using recursion and shows each step visually.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covers functions, recursion, lists, OOP, exception handling and Tkinter GUI.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project is maintained on GitHub with README and meaningful commits.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Future scope: move disks with the mouse, sound effects, smooth sliding animation, Step button.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67287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964567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Tower of Hanoi Visual Simulator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13207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Experiential Learning – Project Assessment-III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Jain">
  <a:themeElements>
    <a:clrScheme name="SBJain">
      <a:dk1>
        <a:srgbClr val="141414"/>
      </a:dk1>
      <a:lt1>
        <a:srgbClr val="FFFFFF"/>
      </a:lt1>
      <a:dk2>
        <a:srgbClr val="1F4E5F"/>
      </a:dk2>
      <a:lt2>
        <a:srgbClr val="F6F9F9"/>
      </a:lt2>
      <a:accent1>
        <a:srgbClr val="91B5B6"/>
      </a:accent1>
      <a:accent2>
        <a:srgbClr val="2C6E7F"/>
      </a:accent2>
      <a:accent3>
        <a:srgbClr val="E74C3C"/>
      </a:accent3>
      <a:accent4>
        <a:srgbClr val="F1C40F"/>
      </a:accent4>
      <a:accent5>
        <a:srgbClr val="2ECC71"/>
      </a:accent5>
      <a:accent6>
        <a:srgbClr val="A0A0A0"/>
      </a:accent6>
      <a:hlink>
        <a:srgbClr val="0000E6"/>
      </a:hlink>
      <a:folHlink>
        <a:srgbClr val="551A8B"/>
      </a:folHlink>
    </a:clrScheme>
    <a:fontScheme name="SBJa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2026-10-11T14:58:46Z</dcterms:created>
  <dcterms:modified xsi:type="dcterms:W3CDTF">2026-10-11T14:58:46Z</dcterms:modified>
</cp:coreProperties>
</file>